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01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9144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BÀI TOÁN &amp; 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1F5F9"/>
                </a:solidFill>
                <a:latin typeface="Calibri"/>
              </a:defRPr>
            </a:pPr>
            <a:r>
              <a:t>Hệ thống Tóm tắt Văn bản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  <a:latin typeface="Calibri"/>
              </a:defRPr>
            </a:pPr>
            <a:r>
              <a:t>Hybrid Summarization trên CUAD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Kết hợp Extractive + Abstractive để tóm tắt hợp đồng pháp lý dài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661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510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Hợp đồng pháp lý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5661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7.8K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từ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Trung bình /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5661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47.7K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từ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Tối đa (~60 trang)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5661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83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cột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Clause tham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029200"/>
            <a:ext cx="3840480" cy="128016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📥  Input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Hợp đồng pháp lý tiếng Anh thô (raw text) dài 7K–47K từ, không có bản tóm tắt sẵn.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029200"/>
            <a:ext cx="3840480" cy="128016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📤  Output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Bản tóm tắt ngắn 150–300 từ, mượt mà, giữ nguyên thông tin cốt lõi của hợp đồng.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THÁCH THỨC &amp; KHÓ KHĂN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Tại sao không thể tóm tắt trực tiếp?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⚠️ Giới hạn token mô hình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BART/T5 chỉ nhận ≤ 1024 token đầu vào. Hợp đồng dài nhất ~47K từ ≈ 60K token → vượt xa 60 lần giới hạn.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21208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⚠️ Cắt cụt = Mất ngữ cảnh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Nếu chỉ lấy 1024 token đầu → bỏ lỡ điều khoản quan trọng ở cuối hợp đồng (phụ lục, bảo mật, chấm dứt).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⚠️ Tốn tài nguyên GPU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Mô hình Deep Learning xử lý văn bản dài rất tốn RAM/VRAM. Không khả thi với tài nguyên hạn chế.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4023360"/>
            <a:ext cx="521208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⚠️ Không có Gold Summary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CUAD không cung cấp bản tóm tắt mẫu. Chỉ có master_clauses.csv (83 cột clause) do luật sư gán nhãn — phải tận dụng làm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Luồng dữ liệu tổng quát — Hybrid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 bước tuần tự: Preprocess → Extractive → Abstractive → Evaluate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103120"/>
            <a:ext cx="822960" cy="822960"/>
          </a:xfrm>
          <a:prstGeom prst="ellipse">
            <a:avLst/>
          </a:prstGeom>
          <a:solidFill>
            <a:srgbClr val="1A223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Clean + Tách câu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2103120"/>
            <a:ext cx="822960" cy="822960"/>
          </a:xfrm>
          <a:prstGeom prst="ellipse">
            <a:avLst/>
          </a:prstGeom>
          <a:solidFill>
            <a:srgbClr val="1A223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Extractive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Lọc 20% câu cốt lõi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103120"/>
            <a:ext cx="822960" cy="822960"/>
          </a:xfrm>
          <a:prstGeom prst="ellipse">
            <a:avLst/>
          </a:prstGeom>
          <a:solidFill>
            <a:srgbClr val="1A223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8B5CF6"/>
                </a:solidFill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Abstractive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BART viết lại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2103120"/>
            <a:ext cx="822960" cy="822960"/>
          </a:xfrm>
          <a:prstGeom prst="ellipse">
            <a:avLst/>
          </a:prstGeom>
          <a:solidFill>
            <a:srgbClr val="1A223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ROUGE + BERTScore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521208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  <a:latin typeface="Consolas"/>
              </a:defRPr>
            </a:pPr>
            <a:r>
              <a:t>① PREPROCESS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</a:defRPr>
            </a:pPr>
            <a:r>
              <a:t>ContractLoader → TextCleaner → SentenceSplitter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Chuẩn hoá Unicode NFKC, loại noise (Page X of Y, Source:), tách câu NLTK punkt, lọc câu &lt;5 hoặc &gt;80 từ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023360"/>
            <a:ext cx="521208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② EXTRACTIVE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</a:defRPr>
            </a:pPr>
            <a:r>
              <a:t>TF-IDF / TextRank / KMeans / Ensemble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Chấm điểm câu → lấy top 20% → giữ thứ tự gốc. Đảm bảo ≤ 1024 token cho BART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521208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  <a:latin typeface="Consolas"/>
              </a:defRPr>
            </a:pPr>
            <a:r>
              <a:t>③ ABSTRACTIVE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</a:defRPr>
            </a:pPr>
            <a:r>
              <a:t>LongDocChunker → BartSummarizer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Chunk ≤ 1024 token (overlap 50), beam=4, hierarchical nếu vẫn dài. Output: 150–300 từ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5394960"/>
            <a:ext cx="521208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④ EVALUATE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</a:defRPr>
            </a:pPr>
            <a:r>
              <a:t>ReferenceBuilder → ROUGE + BERTScore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Gộp clauses từ CSV thành "tóm tắt vàng". ROUGE-1/2/L + BERTScore (roberta-large)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BƯỚC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Preprocess — Từ raw text → danh sách câu sạch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📄 ContractLoader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Đọc file .txt → object Contract{doc_id, raw_text, word_count}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🧹 TextCleaner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Chuẩn hoá Unicode NFKC</a:t>
            </a:r>
            <a:br/>
            <a:r>
              <a:t>• Loại Page X of Y, dòng Source:</a:t>
            </a:r>
            <a:br/>
            <a:r>
              <a:t>• Gộp khoảng trắng / xuống dòng dư thừa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✂️ SentenceSplitter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Ưu tiên nltk.sent_tokenize (punkt)</a:t>
            </a:r>
            <a:br/>
            <a:r>
              <a:t>• Fallback regex nếu NLTK lỗi</a:t>
            </a:r>
            <a:br/>
            <a:r>
              <a:t>• Lọc câu &lt;5 từ (tiêu đề) hoặc &gt;80 từ (nhiễu)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🔄 Luồng xử lý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Raw: "AGREEMENT ... Page 1 of 15 ..."</a:t>
            </a:r>
            <a:br/>
            <a:r>
              <a:t>  │</a:t>
            </a:r>
            <a:br/>
            <a:r>
              <a:t>  ▼ ContractLoader</a:t>
            </a:r>
            <a:br/>
            <a:r>
              <a:t>Contract { doc_id, raw_text, word_count: 7861 }</a:t>
            </a:r>
            <a:br/>
            <a:r>
              <a:t>  │</a:t>
            </a:r>
            <a:br/>
            <a:r>
              <a:t>  ▼ TextCleaner</a:t>
            </a:r>
            <a:br/>
            <a:r>
              <a:t>"AGREEMENT ..."  ← (đã bỏ Page/Source)</a:t>
            </a:r>
            <a:br/>
            <a:r>
              <a:t>  │</a:t>
            </a:r>
            <a:br/>
            <a:r>
              <a:t>  ▼ SentenceSplitter</a:t>
            </a:r>
            <a:br/>
            <a:r>
              <a:t>List[Sentence] = [</a:t>
            </a:r>
            <a:br/>
            <a:r>
              <a:t>  (0, "AGREEMENT made as of...", 6),</a:t>
            </a:r>
            <a:br/>
            <a:r>
              <a:t>  (1, "The Company shall...", 12),</a:t>
            </a:r>
            <a:br/>
            <a:r>
              <a:t>  ...</a:t>
            </a:r>
            <a:br/>
            <a:r>
              <a:t>]</a:t>
            </a:r>
            <a:br/>
            <a:r>
              <a:t>  │</a:t>
            </a:r>
            <a:br/>
            <a:r>
              <a:t>  ▼ Lọc 5–80 từ</a:t>
            </a:r>
            <a:br/>
            <a:r>
              <a:t>List[Sentence] — chỉ giữ câu có ý nghĩa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BƯỚC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Extractive — 3 thuật toán +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Chấm điểm câu → lấy top 20% → giữ thứ tự gốc để bản tóm tắt mạch lạc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TF-IDF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Mỗi câu = 1 "document". TfidfVectorizer(ngram=(1,2)) → ma trận TF-IDF.</a:t>
            </a:r>
          </a:p>
          <a:p>
            <a:pPr>
              <a:spcBef>
                <a:spcPts val="1000"/>
              </a:spcBef>
              <a:defRPr sz="1100" b="1">
                <a:solidFill>
                  <a:srgbClr val="F1F5F9"/>
                </a:solidFill>
                <a:latin typeface="Consolas"/>
              </a:defRPr>
            </a:pPr>
            <a:r>
              <a:t>score = Σ TF-IDF(câu) / |từ|</a:t>
            </a:r>
          </a:p>
          <a:p>
            <a:pPr>
              <a:spcBef>
                <a:spcPts val="800"/>
              </a:spcBef>
              <a:defRPr sz="1000" i="1">
                <a:solidFill>
                  <a:srgbClr val="64748B"/>
                </a:solidFill>
              </a:defRPr>
            </a:pPr>
            <a:r>
              <a:t>Câu chứa nhiều từ khoá quan trọng &amp; hiếm → điểm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3474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TextRank ★ ưu tiên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Cosine similarity giữa các câu → đồ thị có trọng số → pagerank(damping=0.85)</a:t>
            </a:r>
          </a:p>
          <a:p>
            <a:pPr>
              <a:spcBef>
                <a:spcPts val="1000"/>
              </a:spcBef>
              <a:defRPr sz="1100" b="1">
                <a:solidFill>
                  <a:srgbClr val="F1F5F9"/>
                </a:solidFill>
                <a:latin typeface="Consolas"/>
              </a:defRPr>
            </a:pPr>
            <a:r>
              <a:t>PageRank — câu nào được "nhiều câu vote" thì quan trọng</a:t>
            </a:r>
          </a:p>
          <a:p>
            <a:pPr>
              <a:spcBef>
                <a:spcPts val="800"/>
              </a:spcBef>
              <a:defRPr sz="1000" i="1">
                <a:solidFill>
                  <a:srgbClr val="64748B"/>
                </a:solidFill>
              </a:defRPr>
            </a:pPr>
            <a:r>
              <a:t>Thường mạnh nhất → trọng số 1.5 trong ensemble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383280" cy="3474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K-Means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Embed câu bằng all-MiniLM-L6-v2 (384 chiều) → gom K cụm.</a:t>
            </a:r>
          </a:p>
          <a:p>
            <a:pPr>
              <a:spcBef>
                <a:spcPts val="1000"/>
              </a:spcBef>
              <a:defRPr sz="1100" b="1">
                <a:solidFill>
                  <a:srgbClr val="F1F5F9"/>
                </a:solidFill>
                <a:latin typeface="Consolas"/>
              </a:defRPr>
            </a:pPr>
            <a:r>
              <a:t>score = 1 / (1 + dist_to_centroid)</a:t>
            </a:r>
          </a:p>
          <a:p>
            <a:pPr>
              <a:spcBef>
                <a:spcPts val="800"/>
              </a:spcBef>
              <a:defRPr sz="1000" i="1">
                <a:solidFill>
                  <a:srgbClr val="64748B"/>
                </a:solidFill>
              </a:defRPr>
            </a:pPr>
            <a:r>
              <a:t>Mỗi cụm = 1 chủ đề → lấy đại diện → tóm tắt đa chủ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Consolas"/>
              </a:defRPr>
            </a:pPr>
            <a:r>
              <a:t>Ensemble:  Min-max normalize → cộng theo trọng số    TF-IDF × 1.0  +  TextRank × 1.5  +  KMeans × 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  <a:latin typeface="Calibri"/>
              </a:defRPr>
            </a:pPr>
            <a:r>
              <a:t>BƯỚC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Abstractive — BART-large-CNN viết lại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📦 LongDocChunker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Nếu câu sau extractive vẫn &gt; 1024 token → chia chunk ≤ 1024 token, overlap 50 token giữ ngữ cảnh.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🤖 BartSummarizer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Model: facebook/bart-large-cnn</a:t>
            </a:r>
            <a:br/>
            <a:r>
              <a:t>• Beam search: num_beams=4</a:t>
            </a:r>
            <a:br/>
            <a:r>
              <a:t>• length_penalty=2.0, no_repeat_ngram_size=3</a:t>
            </a:r>
            <a:br/>
            <a:r>
              <a:t>• Max output: 256 token → ~150–300 từ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13716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🔄 Hierarchical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Nhiều chunk → ghép tóm tắt → nếu tổng vẫn &gt; 1024 → tóm tắt thêm 1 vòng nữa.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Chunking &amp; Hierarchical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[Câu extractive — 47K từ → ~9400 token]</a:t>
            </a:r>
            <a:br/>
            <a:r>
              <a:t>  │</a:t>
            </a:r>
            <a:br/>
            <a:r>
              <a:t>  ▼ LongDocChunker</a:t>
            </a:r>
            <a:br/>
            <a:r>
              <a:t>  ├── Chunk 1 (≤1024 token, overlap 50)</a:t>
            </a:r>
            <a:br/>
            <a:r>
              <a:t>  ├── Chunk 2 (≤1024 token, overlap 50)</a:t>
            </a:r>
            <a:br/>
            <a:r>
              <a:t>  ├── Chunk 3 ...</a:t>
            </a:r>
            <a:br/>
            <a:r>
              <a:t>  └── Chunk N</a:t>
            </a:r>
            <a:br/>
            <a:r>
              <a:t>  │</a:t>
            </a:r>
            <a:br/>
            <a:r>
              <a:t>  ▼ BartSummarizer (mỗi chunk)</a:t>
            </a:r>
            <a:br/>
            <a:r>
              <a:t>  ├── Summary 1 (~150 từ)</a:t>
            </a:r>
            <a:br/>
            <a:r>
              <a:t>  ├── Summary 2 (~150 từ)</a:t>
            </a:r>
            <a:br/>
            <a:r>
              <a:t>  └── ...</a:t>
            </a:r>
            <a:br/>
            <a:r>
              <a:t>  │</a:t>
            </a:r>
            <a:br/>
            <a:r>
              <a:t>  ▼ Ghép summaries</a:t>
            </a:r>
            <a:br/>
            <a:r>
              <a:t>  Tổng &gt; 1024 token?</a:t>
            </a:r>
            <a:br/>
            <a:r>
              <a:t>    ├── YES → tóm tắt thêm 1 vòng (hierarchical)</a:t>
            </a:r>
            <a:br/>
            <a:r>
              <a:t>    └── NO  → bản tóm tắt cuối cùng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BƯỚC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Evaluate — "Tóm tắt vàng" từ CUAD + Đánh giá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🏆 ReferenceBuilder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Đọc master_clauses.csv (83 cột) → gộp các clause của từng doc (loại trùng) → "tóm tắt vàng" để chấm điểm.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</a:defRPr>
            </a:pPr>
            <a:r>
              <a:t>Điểm độc đáo: CUAD không có gold summary → tận dụng clause labels do luật sư gán nhãn làm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29200" cy="25603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📊 RougeEvaluator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ROUGE-1: unigram overlap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ROUGE-2: bigram overlap (fluency)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ROUGE-L: longest common subsequence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Mỗi metric: precision / recall /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🧠 BertScoreEvaluator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Dùng roberta-large để đánh giá nghĩa (semantic similarity), không chỉ so trùng từ vựng.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5603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📋 EvalRunner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Benchmark trên toàn bộ 510 file → lưu kết quả vào outputs/eval/rouge_*.json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  <a:latin typeface="Consolas"/>
              </a:defRPr>
            </a:pPr>
            <a:r>
              <a:t>POST /api/eval/run</a:t>
            </a:r>
            <a:br/>
            <a:r>
              <a:t>{ "limit": 510, "extractor": "ensemble"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  <a:latin typeface="Calibri"/>
              </a:defRPr>
            </a:pPr>
            <a:r>
              <a:t>CHIẾN LƯỢC HUẤN LUYỆN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Fine-tune BART trên CUAD — RTX 3090 24GB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📦 Dataset: CuadDatasetBuilder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Input: câu trích xuất bằng TextRank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Target: clauses gộp từ CSV (tóm tắt vàng)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Chia 80/10/10 train/val/test (seed=42)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Cache vào dataset_cuad.json → không build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029200" cy="27432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🏋️ BartFineTuner (Seq2SeqTrainer)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Epochs: 3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Batch size: 2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Grad accum: 8 → eff batch = 16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Learning rate: 3e-5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Precision: fp16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  Beam width: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6459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LoRA (tuỳ chọn)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Cờ --use_lora → giảm VRAM bằng LoRA (r=16). Phù hợp khi GPU &lt; 24GB.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5212080" cy="29260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🚀 Deploy qua Fabric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fab sync       # rsync code lên worker1</a:t>
            </a:r>
            <a:br/>
            <a:r>
              <a:t>fab setup      # venv + torch CUDA 12.1</a:t>
            </a:r>
            <a:br/>
            <a:r>
              <a:t>fab gpu        # check nvidia-smi</a:t>
            </a:r>
            <a:br/>
            <a:r>
              <a:t>fab train --epochs=3 --batch=2 \</a:t>
            </a:r>
            <a:br/>
            <a:r>
              <a:t>  --grad-accum=8</a:t>
            </a:r>
            <a:br/>
            <a:r>
              <a:t>fab tail       # xem log train</a:t>
            </a:r>
            <a:br/>
            <a:r>
              <a:t>fab pull-model # kéo model về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Backend Flask API (port 9020) + Frontend React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🔌 REST API Endpoints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Consolas"/>
              </a:rPr>
              <a:t>  GET </a:t>
            </a:r>
            <a:r>
              <a:rPr sz="1000">
                <a:solidFill>
                  <a:srgbClr val="94A3B8"/>
                </a:solidFill>
                <a:latin typeface="Consolas"/>
              </a:rPr>
              <a:t>/api/health  — Trạng thái + device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Consolas"/>
              </a:rPr>
              <a:t>  GET </a:t>
            </a:r>
            <a:r>
              <a:rPr sz="1000">
                <a:solidFill>
                  <a:srgbClr val="94A3B8"/>
                </a:solidFill>
                <a:latin typeface="Consolas"/>
              </a:rPr>
              <a:t>/api/documents  — Danh sách doc (search, page)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Consolas"/>
              </a:rPr>
              <a:t>  GET </a:t>
            </a:r>
            <a:r>
              <a:rPr sz="1000">
                <a:solidFill>
                  <a:srgbClr val="94A3B8"/>
                </a:solidFill>
                <a:latin typeface="Consolas"/>
              </a:rPr>
              <a:t>/api/documents/:id  — Nội dung 1 doc + ref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59E0B"/>
                </a:solidFill>
                <a:latin typeface="Consolas"/>
              </a:rPr>
              <a:t>  POST </a:t>
            </a:r>
            <a:r>
              <a:rPr sz="1000">
                <a:solidFill>
                  <a:srgbClr val="94A3B8"/>
                </a:solidFill>
                <a:latin typeface="Consolas"/>
              </a:rPr>
              <a:t>/api/extract  — Chỉ extractive (nhanh)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59E0B"/>
                </a:solidFill>
                <a:latin typeface="Consolas"/>
              </a:rPr>
              <a:t>  POST </a:t>
            </a:r>
            <a:r>
              <a:rPr sz="1000">
                <a:solidFill>
                  <a:srgbClr val="94A3B8"/>
                </a:solidFill>
                <a:latin typeface="Consolas"/>
              </a:rPr>
              <a:t>/api/summarize  — Pipeline lai đầy đủ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59E0B"/>
                </a:solidFill>
                <a:latin typeface="Consolas"/>
              </a:rPr>
              <a:t>  POST </a:t>
            </a:r>
            <a:r>
              <a:rPr sz="1000">
                <a:solidFill>
                  <a:srgbClr val="94A3B8"/>
                </a:solidFill>
                <a:latin typeface="Consolas"/>
              </a:rPr>
              <a:t>/api/eval/run  — Benchmark toàn bộ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💻 Frontend — TabSummarization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React 19 + Ant Design 6 + Tailwind 4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Cột 1: Chọn doc CUAD / upload .txt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Cột 2: Chọn thuật toán + bật/tắt BART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Cột 3: Thanh tiến trình 4 bước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📊 Panel kết quả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4 thẻ thống kê: từ gốc, câu split, câu giữ, tỉ lệ nén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Danh sách câu trích kèm score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Bản viết lại BART (chi tiết từng chunk)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ROUGE-1/2/L + precision/recall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Nút xuất 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CẤU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Kiến trúc thư mục dự 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Consolas"/>
              </a:defRPr>
            </a:pPr>
            <a:r>
              <a:t>text_sumarisation/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├── data/</a:t>
            </a:r>
            <a:br/>
            <a:r>
              <a:t>│   ├── full_contract_txt/    # 510 .txt</a:t>
            </a:r>
            <a:br/>
            <a:r>
              <a:t>│   └── master_clauses.csv    # 83 cột → reference</a:t>
            </a:r>
            <a:br/>
            <a:r>
              <a:t>│</a:t>
            </a:r>
            <a:br/>
            <a:r>
              <a:t>├── backend/</a:t>
            </a:r>
            <a:br/>
            <a:r>
              <a:t>│   ├── config/settings.py</a:t>
            </a:r>
            <a:br/>
            <a:r>
              <a:t>│   ├── preprocess/        # ① loader+cleaner+splitter</a:t>
            </a:r>
            <a:br/>
            <a:r>
              <a:t>│   ├── extractive/        # ② tfidf/textrank/kmeans</a:t>
            </a:r>
            <a:br/>
            <a:r>
              <a:t>│   ├── abstractive/       # ③ chunker + BART</a:t>
            </a:r>
            <a:br/>
            <a:r>
              <a:t>│   ├── evaluate/          # ④ ROUGE + BERTScore</a:t>
            </a:r>
            <a:br/>
            <a:r>
              <a:t>│   ├── hybrid/pipeline.py # orchestrator</a:t>
            </a:r>
            <a:br/>
            <a:r>
              <a:t>│   ├── training/          # fine-tune BART</a:t>
            </a:r>
            <a:br/>
            <a:r>
              <a:t>│   └── app/               # Flask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├── frontend/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│   └── src/components/</a:t>
            </a:r>
            <a:br/>
            <a:r>
              <a:t>│       TabSummarization.jsx</a:t>
            </a:r>
            <a:br/>
            <a:r>
              <a:t>│</a:t>
            </a:r>
            <a:br/>
            <a:r>
              <a:t>├── deploy/</a:t>
            </a:r>
            <a:br/>
            <a:r>
              <a:t>│   ├── fabfile.py            # Fabric deploy</a:t>
            </a:r>
            <a:br/>
            <a:r>
              <a:t>│   └── requirements*.txt</a:t>
            </a:r>
            <a:br/>
            <a:r>
              <a:t>│</a:t>
            </a:r>
            <a:br/>
            <a:r>
              <a:t>└── outputs/</a:t>
            </a:r>
            <a:br/>
            <a:r>
              <a:t>    ├── eval/                 # ROUGE results</a:t>
            </a:r>
            <a:br/>
            <a:r>
              <a:t>    ├── models/               # fine-tuned BART</a:t>
            </a:r>
            <a:br/>
            <a:r>
              <a:t>    └── summary_cache/        # cached summaries</a:t>
            </a:r>
            <a:br/>
            <a:br/>
            <a:r>
              <a:t>Frontend → axios /api/*</a:t>
            </a:r>
            <a:br/>
            <a:r>
              <a:t>  → Vite proxy</a:t>
            </a:r>
            <a:br/>
            <a:r>
              <a:t>  → Flask localhost:9020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CẤU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Phụ lục — Các tham số cấu hình chính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474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  Tham số                Mặc định    Ý nghĩa                              Ảnh hưởng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TOP_K_RATIO             0.2         Tỉ lệ câu extractive giữ lại         Cao → nhiều thông tin; Thấp → mất ý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MIN_SENT_LEN            5           Bỏ câu &lt; N từ                        Loại tiêu đề ngắn, dòng nhiễu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MAX_SENT_LEN            80          Bỏ câu &gt; N từ                        Loại đoạn dài bị tách nhầm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BART_MAX_INPUT          1024        Token tối đa BART nhận               Giới hạn cứng của mô hình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BART_MAX_OUTPUT         256         Token sinh ra tối đa                 → ~150–300 từ tóm tắt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BART_NUM_BEAMS          4           Beam search width                    Cao → chất lượng tốt hơn, chậm hơn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onsolas"/>
              </a:defRPr>
            </a:pPr>
            <a:r>
              <a:t>  CHUNK_OVERLAP           50          Token chồng lấn giữa chunk           Giữ ngữ cảnh xuyên chunk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3949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20%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Câu giữ lại (extractive)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949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1024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Token max input BART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394960"/>
            <a:ext cx="2377440" cy="11887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Beam search width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1E2A4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HẠN CHẾ &amp; HƯỚNG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Hạn chế hiện tại &amp;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⚠️ Hạn chế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BART pretrained trên tin tức → phong cách hơi gượng với văn bản pháp lý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Extractive không hiểu ngữ nghĩa sâu → có thể bỏ lỡ điều khoản quan trọng nếu từ khoá hiếm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Chunking mất liên kết → overlap 50 token chưa đủ cho hợp đồng phức tạp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Reference từ clause → không phải gold summary thực sự, chỉ là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Hướng tiếp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Thử LED / Longformer — mô hình hỗ trợ 16K+ token, xử lý trực tiếp văn bản dài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Pegasus-BillSum — pretrained trên văn bản pháp luật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Chấm điểm hậu kiểm bằng QA — dùng Question Answering để kiểm tra tóm tắt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Legal-specific pretraining — tiếp tục fine-tune trên corpus pháp lý lớn hơn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Multimodal — xử lý cả bảng biểu, sơ đồ trong hợp đồng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943600"/>
            <a:ext cx="5760720" cy="6400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Cảm ơn! — Hệ thống Hybrid Summarization trên CUAD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